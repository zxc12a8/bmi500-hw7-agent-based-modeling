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b2f48f7b7f4944" /><Relationship Type="http://schemas.openxmlformats.org/officeDocument/2006/relationships/extended-properties" Target="/docProps/app.xml" Id="R79fa649d3d2e4ff0" /><Relationship Type="http://schemas.openxmlformats.org/officeDocument/2006/relationships/officeDocument" Target="/ppt/presentation.xml" Id="R63ed44f0419f4a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341034d76041e9"/>
  </p:sldMasterIdLst>
  <p:notesMasterIdLst>
    <p:notesMasterId xmlns:r="http://schemas.openxmlformats.org/officeDocument/2006/relationships" r:id="R8dfa4dc828034da1"/>
  </p:notesMasterIdLst>
  <p:sldIdLst>
    <p:sldId xmlns:r="http://schemas.openxmlformats.org/officeDocument/2006/relationships" id="256" r:id="R3fe2d6369ba7496e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cc500551ec470d" /><Relationship Type="http://schemas.openxmlformats.org/officeDocument/2006/relationships/slideMaster" Target="/ppt/slideMasters/slideMaster1.xml" Id="R6d341034d76041e9" /><Relationship Type="http://schemas.openxmlformats.org/officeDocument/2006/relationships/notesMaster" Target="/ppt/notesMasters/notesMaster1.xml" Id="R8dfa4dc828034da1" /><Relationship Type="http://schemas.openxmlformats.org/officeDocument/2006/relationships/presProps" Target="/ppt/presProps.xml" Id="Rf38841f1d0134863" /><Relationship Type="http://schemas.openxmlformats.org/officeDocument/2006/relationships/viewProps" Target="/ppt/viewProps.xml" Id="Rd9fbbbee18c54b7e" /><Relationship Type="http://schemas.openxmlformats.org/officeDocument/2006/relationships/tableStyles" Target="/ppt/tableStyles.xml" Id="R791767cca8fb4e00" /><Relationship Type="http://schemas.openxmlformats.org/officeDocument/2006/relationships/slide" Target="/ppt/slides/slide1.xml" Id="R3fe2d6369ba749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477a55548c42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768157194a49b1" /><Relationship Type="http://schemas.openxmlformats.org/officeDocument/2006/relationships/notesMaster" Target="/ppt/notesMasters/notesMaster1.xml" Id="R723198218dca4b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a46380d59a44e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6adbebb00d4b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85e2e58cca4b8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bd389db4564aa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1c9da054ea432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60dc8702c547d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88596c70e5458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850d9922184d9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1b4a927eb54b2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e91a9993d9439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ef2b4178b540c5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088BDD-4920-059C-CCFD-CA047B9312F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8AA7E32-1DD6-6EEE-0C84-7382EE361AA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6196016-4D4C-74A5-FF99-F90C6B3E83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7BC18B5-C192-8743-8444-D1B7B553333A}" type="datetimeFigureOut">
              <a:t>10/15/26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C1FB631-44CD-CAAC-6F6D-C9FDB8B1E3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09337B8-7F69-D71E-0EEC-1CEEACA9A0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6F8313E-D0D7-F34E-AAC4-C9598A626396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CAC63A-1AD3-58A2-E604-791CEA79AB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EF3A0D7-6038-C38F-B40E-E22FA50D4EA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81A39C7-F911-8A41-3EC6-ADED6DBA8D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7BC18B5-C192-8743-8444-D1B7B553333A}" type="datetimeFigureOut">
              <a:t>10/15/26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9296A89-6D07-2F67-BD06-5CF8E817F2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27DC66-6DB3-CEC3-9C8F-0E628DCD2D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6F8313E-D0D7-F34E-AAC4-C9598A626396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076943-4858-FD56-D7EE-4BE971DFFF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462B2AB-E79D-4338-391D-5EB0085128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509EB44-4FF1-7286-B546-9D2B4894E7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7BC18B5-C192-8743-8444-D1B7B553333A}" type="datetimeFigureOut">
              <a:t>10/15/26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7BF85D4-DEF4-E8F0-5C2A-183D170ACB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EC872A2-0FAA-CC41-14ED-BB4CBCC1FD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6F8313E-D0D7-F34E-AAC4-C9598A626396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4FF0F0-67F2-BB8A-4030-527F7372CF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F6C2A46-798D-1219-E95F-8C18F308DC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384FDA6-6CBA-76CA-6CA5-1A2B406E48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3C6B87F-A58D-2F16-3BA9-9398F17190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7BC18B5-C192-8743-8444-D1B7B553333A}" type="datetimeFigureOut">
              <a:t>10/15/26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0241D1A-3024-1F47-A9F2-FC8125C4C5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CBB4DD8-379A-2E47-E0FA-FB451618BC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6F8313E-D0D7-F34E-AAC4-C9598A626396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C10CAC-7F9C-1C59-466F-BBDAB5DC0D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89200CB-9E1F-A4D3-AAF6-81BDDE2638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402DACC-A234-0F76-656C-936C23B9BF3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4D0A5F-50A1-A1D8-E750-7FD2034FF34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DE4040B-F558-D539-3103-DA9AF40D3D4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E5A1BD3-40B3-6175-5936-FEA6BC987C4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7BC18B5-C192-8743-8444-D1B7B553333A}" type="datetimeFigureOut">
              <a:t>10/15/26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F5B4822-DE39-EC24-1DDE-A5F5E569EA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26BB615-EFF3-7BE1-8928-25597124F2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6F8313E-D0D7-F34E-AAC4-C9598A62639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2323E60-955F-5BF3-A69A-48A7B4256B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67E8485-99AB-551E-B5B3-FE2FBE0B37F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7BC18B5-C192-8743-8444-D1B7B553333A}" type="datetimeFigureOut">
              <a:t>10/15/26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DBA24EE7-8AFD-030C-4F8B-505ECD8BC6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6EA9D6D-F49C-1113-7395-E698A1799D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6F8313E-D0D7-F34E-AAC4-C9598A62639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60F5ED0-965D-0ED3-B4F7-0D98ECD6B4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7BC18B5-C192-8743-8444-D1B7B553333A}" type="datetimeFigureOut">
              <a:t>10/15/26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8B9A768-367B-B27F-82B6-42984DA197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2E5EAE0-C4C4-3695-820C-DF2DBD5362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6F8313E-D0D7-F34E-AAC4-C9598A62639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1843D20-B296-E74B-96EE-39029D37E7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C726BCF-2FFC-F4EA-D033-EC8D669512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5D678FD-40C3-6255-0010-6B6E3EFCF5A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BE73163-FBF8-600D-F87C-7D4CF450B0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7BC18B5-C192-8743-8444-D1B7B553333A}" type="datetimeFigureOut">
              <a:t>10/15/26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3E97396-0030-BFAE-D8A7-9B9DE40532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7EC90E0-91D4-BEEF-6C3D-F1DDBB20ED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6F8313E-D0D7-F34E-AAC4-C9598A62639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859DA8F-D67F-85E8-0E9E-E51C054692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BF261E2-03B0-BDCC-8C21-4FA1206EFDD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2E35150-9782-0045-77C6-7EC57C0549E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67EE9B9-0FCB-B795-9E1B-718C77B1C5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7BC18B5-C192-8743-8444-D1B7B553333A}" type="datetimeFigureOut">
              <a:t>10/15/26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BE41617-0F47-07FD-54DC-E41AD3B44F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657EAF7-E71B-0B97-0CAA-1DD288DC7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6F8313E-D0D7-F34E-AAC4-C9598A62639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FBB0870-C113-8734-7E26-374E9A2082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BCA122-138C-6D1A-4FB8-423E482418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E18DEF2-A0F2-E969-FCB5-27B1D8CDB2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7BC18B5-C192-8743-8444-D1B7B553333A}" type="datetimeFigureOut">
              <a:t>10/15/26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AF6E5BC-C750-C5F1-ACAD-8F7B2F5BCD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814BCAD-CBA0-BA2D-9804-381E72BF98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6F8313E-D0D7-F34E-AAC4-C9598A62639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880BCEE-7521-F639-8189-700A2EF00F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54E41C-1BFE-5872-04E5-C5B3CD0561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3E30D5-6C2C-F149-219F-ED39269B52F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7BC18B5-C192-8743-8444-D1B7B553333A}" type="datetimeFigureOut">
              <a:t>10/15/26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412110-EEB1-E705-3EF0-7E0BA48D92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C844F6-82D5-37E8-9A39-3EF4BFF46F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6F8313E-D0D7-F34E-AAC4-C9598A626396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dd3c8b32164f6d" /><Relationship Type="http://schemas.openxmlformats.org/officeDocument/2006/relationships/slideLayout" Target="/ppt/slideLayouts/slideLayout1.xml" Id="Rb0d7cbc026fa4394" /><Relationship Type="http://schemas.openxmlformats.org/officeDocument/2006/relationships/slideLayout" Target="/ppt/slideLayouts/slideLayout2.xml" Id="R3412cb4dc63947b0" /><Relationship Type="http://schemas.openxmlformats.org/officeDocument/2006/relationships/slideLayout" Target="/ppt/slideLayouts/slideLayout3.xml" Id="R1c435f01ff594586" /><Relationship Type="http://schemas.openxmlformats.org/officeDocument/2006/relationships/slideLayout" Target="/ppt/slideLayouts/slideLayout4.xml" Id="Rf0a9f1f0a8d042cc" /><Relationship Type="http://schemas.openxmlformats.org/officeDocument/2006/relationships/slideLayout" Target="/ppt/slideLayouts/slideLayout5.xml" Id="R80153c79245c4047" /><Relationship Type="http://schemas.openxmlformats.org/officeDocument/2006/relationships/slideLayout" Target="/ppt/slideLayouts/slideLayout6.xml" Id="R94179ee5a55145cc" /><Relationship Type="http://schemas.openxmlformats.org/officeDocument/2006/relationships/slideLayout" Target="/ppt/slideLayouts/slideLayout7.xml" Id="Rab565883d6c64374" /><Relationship Type="http://schemas.openxmlformats.org/officeDocument/2006/relationships/slideLayout" Target="/ppt/slideLayouts/slideLayout8.xml" Id="Rb54c5344e8934b00" /><Relationship Type="http://schemas.openxmlformats.org/officeDocument/2006/relationships/slideLayout" Target="/ppt/slideLayouts/slideLayout9.xml" Id="Re495919dbcc84134" /><Relationship Type="http://schemas.openxmlformats.org/officeDocument/2006/relationships/slideLayout" Target="/ppt/slideLayouts/slideLayout10.xml" Id="Rc2adde3e551945ed" /><Relationship Type="http://schemas.openxmlformats.org/officeDocument/2006/relationships/slideLayout" Target="/ppt/slideLayouts/slideLayout11.xml" Id="Rc2a5e7da49b94f6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B6D3FA9-FBBC-6568-6096-154A3E9D39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04B4CF7-69B9-B256-7D41-C531D75740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241C5E4-5520-46E4-1C94-3BCFC289C33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7BC18B5-C192-8743-8444-D1B7B553333A}" type="datetimeFigureOut">
              <a:t>10/15/26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4468BA9-DA0D-8B44-9228-3B195893010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82F949F-6F87-C4F3-DE87-4ED77F96CA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46F8313E-D0D7-F34E-AAC4-C9598A62639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d7cbc026fa4394"/>
    <p:sldLayoutId xmlns:r="http://schemas.openxmlformats.org/officeDocument/2006/relationships" id="2147483650" r:id="R3412cb4dc63947b0"/>
    <p:sldLayoutId xmlns:r="http://schemas.openxmlformats.org/officeDocument/2006/relationships" id="2147483651" r:id="R1c435f01ff594586"/>
    <p:sldLayoutId xmlns:r="http://schemas.openxmlformats.org/officeDocument/2006/relationships" id="2147483652" r:id="Rf0a9f1f0a8d042cc"/>
    <p:sldLayoutId xmlns:r="http://schemas.openxmlformats.org/officeDocument/2006/relationships" id="2147483653" r:id="R80153c79245c4047"/>
    <p:sldLayoutId xmlns:r="http://schemas.openxmlformats.org/officeDocument/2006/relationships" id="2147483654" r:id="R94179ee5a55145cc"/>
    <p:sldLayoutId xmlns:r="http://schemas.openxmlformats.org/officeDocument/2006/relationships" id="2147483655" r:id="Rab565883d6c64374"/>
    <p:sldLayoutId xmlns:r="http://schemas.openxmlformats.org/officeDocument/2006/relationships" id="2147483656" r:id="Rb54c5344e8934b00"/>
    <p:sldLayoutId xmlns:r="http://schemas.openxmlformats.org/officeDocument/2006/relationships" id="2147483657" r:id="Re495919dbcc84134"/>
    <p:sldLayoutId xmlns:r="http://schemas.openxmlformats.org/officeDocument/2006/relationships" id="2147483658" r:id="Rc2adde3e551945ed"/>
    <p:sldLayoutId xmlns:r="http://schemas.openxmlformats.org/officeDocument/2006/relationships" id="2147483659" r:id="Rc2a5e7da49b94f6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40d14b1644cc2" /><Relationship Type="http://schemas.openxmlformats.org/officeDocument/2006/relationships/image" Target="/ppt/media/image.png" Id="Rbb30bcea960d4876" /><Relationship Type="http://schemas.openxmlformats.org/officeDocument/2006/relationships/notesSlide" Target="/ppt/notesSlides/notesSlide1.xml" Id="R1a70b1f8eab2492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A5B4EE4-A44C-CDF1-FA67-C72B9AA4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"/>
            <a:ext cx="1143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3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HW 2: Agent-Based Modeling of Pandemic Spread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353CC04-A35C-755D-3990-10ECC597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Hypothesis: Reducing movement will lower the infection peak and delay it. Agents will meet fewer new infected individuals, but transmission is still possible in a shared cell.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B44BBC7-2A98-D213-60E9-9373E37A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11287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Reducing movement: partly supported.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994CB50-953D-1C25-6E38-8A17C2AD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34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5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51515"/>
                </a:solidFill>
                <a:latin typeface="Arial"/>
                <a:ea typeface="Arial"/>
                <a:cs typeface="Arial"/>
              </a:rPr>
              <a:t>Reducing movement lowered the average number of infected agents at the peak, but did not always delay it. The latest average peak occurred at m=0.3. With stronger restrictions at m=0.1, outbreaks were smaller and peaked earlier.</a:t>
            </a:r>
            <a:endParaRPr sz="1575" b="0">
              <a:solidFill>
                <a:srgbClr val="151515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8E3FAD23-1027-4555-88FE-C406F8C8BB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30bcea960d4876"/>
          <a:stretch xmlns:a="http://schemas.openxmlformats.org/drawingml/2006/main"/>
        </p:blipFill>
        <p:spPr>
          <a:xfrm xmlns:a="http://schemas.openxmlformats.org/drawingml/2006/main">
            <a:off x="285750" y="2384649"/>
            <a:ext cx="7924800" cy="2069652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7A268DE-4DB8-1145-D42F-27A7D9EF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362200"/>
            <a:ext cx="3305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4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Table 1: Mean peak infected and time to peak</a:t>
            </a:r>
          </a:p>
        </p:txBody>
      </p:sp>
      <p:graphicFrame>
        <p:nvGraphicFramePr>
          <p:cNvPr id="10" name="Table 9">
            <a:extLst xmlns:a="http://schemas.openxmlformats.org/drawingml/2006/main">
              <a:ext uri="{FF2B5EF4-FFF2-40B4-BE49-F238E27FC236}">
                <a16:creationId xmlns:a16="http://schemas.microsoft.com/office/drawing/2014/main" id="{12AF64F0-A9AF-47BE-9075-20F02F645AC4}"/>
              </a:ext>
            </a:extLst>
          </p:cNvPr>
          <p:cNvGraphicFramePr/>
          <p:nvPr/>
        </p:nvGraphicFramePr>
        <p:xfrm>
          <a:off xmlns:a="http://schemas.openxmlformats.org/drawingml/2006/main" x="8486775" y="2952750"/>
          <a:ext xmlns:a="http://schemas.openxmlformats.org/drawingml/2006/main" cx="3305175" cy="183070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04925"/>
                <a:gridCol w="1000125"/>
                <a:gridCol w="1000125"/>
              </a:tblGrid>
              <a:tr h="523875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>
                    <a:lnL w="7620">
                      <a:solidFill>
                        <a:srgbClr val="466C80"/>
                      </a:solidFill>
                      <a:prstDash val="solid"/>
                    </a:lnL>
                    <a:lnR w="7620">
                      <a:solidFill>
                        <a:srgbClr val="466C80"/>
                      </a:solidFill>
                      <a:prstDash val="solid"/>
                    </a:lnR>
                    <a:lnT w="7620">
                      <a:solidFill>
                        <a:srgbClr val="466C80"/>
                      </a:solidFill>
                      <a:prstDash val="solid"/>
                    </a:lnT>
                    <a:lnB w="7620">
                      <a:solidFill>
                        <a:srgbClr val="466C8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Mean peak infected</a:t>
                      </a:r>
                    </a:p>
                  </a:txBody>
                  <a:tcPr marL="91440" marR="91440" marT="45720" marB="45720">
                    <a:lnL w="7620" cmpd="sng">
                      <a:solidFill>
                        <a:srgbClr val="466C80"/>
                      </a:solidFill>
                      <a:prstDash val="solid"/>
                    </a:lnL>
                    <a:lnR w="7620">
                      <a:solidFill>
                        <a:srgbClr val="466C80"/>
                      </a:solidFill>
                      <a:prstDash val="solid"/>
                    </a:lnR>
                    <a:lnT w="7620">
                      <a:solidFill>
                        <a:srgbClr val="466C80"/>
                      </a:solidFill>
                      <a:prstDash val="solid"/>
                    </a:lnT>
                    <a:lnB w="7620">
                      <a:solidFill>
                        <a:srgbClr val="466C8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Mean time to peak</a:t>
                      </a:r>
                    </a:p>
                  </a:txBody>
                  <a:tcPr marL="91440" marR="91440" marT="45720" marB="45720">
                    <a:lnL w="7620" cmpd="sng">
                      <a:solidFill>
                        <a:srgbClr val="466C80"/>
                      </a:solidFill>
                      <a:prstDash val="solid"/>
                    </a:lnL>
                    <a:lnR w="7620">
                      <a:solidFill>
                        <a:srgbClr val="466C80"/>
                      </a:solidFill>
                      <a:prstDash val="solid"/>
                    </a:lnR>
                    <a:lnT w="7620">
                      <a:solidFill>
                        <a:srgbClr val="466C80"/>
                      </a:solidFill>
                      <a:prstDash val="solid"/>
                    </a:lnT>
                    <a:lnB w="7620">
                      <a:solidFill>
                        <a:srgbClr val="466C8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466C80"/>
                      </a:solidFill>
                      <a:prstDash val="solid"/>
                    </a:lnL>
                    <a:lnR w="7620">
                      <a:solidFill>
                        <a:srgbClr val="466C80"/>
                      </a:solidFill>
                      <a:prstDash val="solid"/>
                    </a:lnR>
                    <a:lnT w="7620" cmpd="sng">
                      <a:solidFill>
                        <a:srgbClr val="466C80"/>
                      </a:solidFill>
                      <a:prstDash val="solid"/>
                    </a:lnT>
                    <a:lnB w="7620">
                      <a:solidFill>
                        <a:srgbClr val="466C8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94.7</a:t>
                      </a:r>
                    </a:p>
                  </a:txBody>
                  <a:tcPr marL="91440" marR="91440" marT="45720" marB="45720">
                    <a:lnL w="7620" cmpd="sng">
                      <a:solidFill>
                        <a:srgbClr val="466C80"/>
                      </a:solidFill>
                      <a:prstDash val="solid"/>
                    </a:lnL>
                    <a:lnR w="7620">
                      <a:solidFill>
                        <a:srgbClr val="466C80"/>
                      </a:solidFill>
                      <a:prstDash val="solid"/>
                    </a:lnR>
                    <a:lnT w="7620" cmpd="sng">
                      <a:solidFill>
                        <a:srgbClr val="466C80"/>
                      </a:solidFill>
                      <a:prstDash val="solid"/>
                    </a:lnT>
                    <a:lnB w="7620">
                      <a:solidFill>
                        <a:srgbClr val="466C8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71.9</a:t>
                      </a:r>
                    </a:p>
                  </a:txBody>
                  <a:tcPr marL="91440" marR="91440" marT="45720" marB="45720">
                    <a:lnL w="7620" cmpd="sng">
                      <a:solidFill>
                        <a:srgbClr val="466C80"/>
                      </a:solidFill>
                      <a:prstDash val="solid"/>
                    </a:lnL>
                    <a:lnR w="7620">
                      <a:solidFill>
                        <a:srgbClr val="466C80"/>
                      </a:solidFill>
                      <a:prstDash val="solid"/>
                    </a:lnR>
                    <a:lnT w="7620" cmpd="sng">
                      <a:solidFill>
                        <a:srgbClr val="466C80"/>
                      </a:solidFill>
                      <a:prstDash val="solid"/>
                    </a:lnT>
                    <a:lnB w="7620">
                      <a:solidFill>
                        <a:srgbClr val="466C8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Reduced movement</a:t>
                      </a:r>
                    </a:p>
                    <a:p>
                      <a:r>
                        <a:rPr sz="120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(m=0.3)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466C80"/>
                      </a:solidFill>
                      <a:prstDash val="solid"/>
                    </a:lnL>
                    <a:lnR w="7620">
                      <a:solidFill>
                        <a:srgbClr val="466C80"/>
                      </a:solidFill>
                      <a:prstDash val="solid"/>
                    </a:lnR>
                    <a:lnT w="7620" cmpd="sng">
                      <a:solidFill>
                        <a:srgbClr val="466C80"/>
                      </a:solidFill>
                      <a:prstDash val="solid"/>
                    </a:lnT>
                    <a:lnB w="7620">
                      <a:solidFill>
                        <a:srgbClr val="466C8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49.7</a:t>
                      </a:r>
                    </a:p>
                  </a:txBody>
                  <a:tcPr marL="91440" marR="91440" marT="45720" marB="45720">
                    <a:lnL w="7620" cmpd="sng">
                      <a:solidFill>
                        <a:srgbClr val="466C80"/>
                      </a:solidFill>
                      <a:prstDash val="solid"/>
                    </a:lnL>
                    <a:lnR w="7620">
                      <a:solidFill>
                        <a:srgbClr val="466C80"/>
                      </a:solidFill>
                      <a:prstDash val="solid"/>
                    </a:lnR>
                    <a:lnT w="7620" cmpd="sng">
                      <a:solidFill>
                        <a:srgbClr val="466C80"/>
                      </a:solidFill>
                      <a:prstDash val="solid"/>
                    </a:lnT>
                    <a:lnB w="7620">
                      <a:solidFill>
                        <a:srgbClr val="466C8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133.4</a:t>
                      </a:r>
                    </a:p>
                  </a:txBody>
                  <a:tcPr marL="91440" marR="91440" marT="45720" marB="45720">
                    <a:lnL w="7620" cmpd="sng">
                      <a:solidFill>
                        <a:srgbClr val="466C80"/>
                      </a:solidFill>
                      <a:prstDash val="solid"/>
                    </a:lnL>
                    <a:lnR w="7620">
                      <a:solidFill>
                        <a:srgbClr val="466C80"/>
                      </a:solidFill>
                      <a:prstDash val="solid"/>
                    </a:lnR>
                    <a:lnT w="7620" cmpd="sng">
                      <a:solidFill>
                        <a:srgbClr val="466C80"/>
                      </a:solidFill>
                      <a:prstDash val="solid"/>
                    </a:lnT>
                    <a:lnB w="7620">
                      <a:solidFill>
                        <a:srgbClr val="466C8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Avoidance</a:t>
                      </a:r>
                    </a:p>
                  </a:txBody>
                  <a:tcPr marL="91440" marR="91440" marT="45720" marB="45720">
                    <a:lnL w="7620">
                      <a:solidFill>
                        <a:srgbClr val="466C80"/>
                      </a:solidFill>
                      <a:prstDash val="solid"/>
                    </a:lnL>
                    <a:lnR w="7620">
                      <a:solidFill>
                        <a:srgbClr val="466C80"/>
                      </a:solidFill>
                      <a:prstDash val="solid"/>
                    </a:lnR>
                    <a:lnT w="7620" cmpd="sng">
                      <a:solidFill>
                        <a:srgbClr val="466C80"/>
                      </a:solidFill>
                      <a:prstDash val="solid"/>
                    </a:lnT>
                    <a:lnB w="7620">
                      <a:solidFill>
                        <a:srgbClr val="466C8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79.2</a:t>
                      </a:r>
                    </a:p>
                  </a:txBody>
                  <a:tcPr marL="91440" marR="91440" marT="45720" marB="45720">
                    <a:lnL w="7620" cmpd="sng">
                      <a:solidFill>
                        <a:srgbClr val="466C80"/>
                      </a:solidFill>
                      <a:prstDash val="solid"/>
                    </a:lnL>
                    <a:lnR w="7620">
                      <a:solidFill>
                        <a:srgbClr val="466C80"/>
                      </a:solidFill>
                      <a:prstDash val="solid"/>
                    </a:lnR>
                    <a:lnT w="7620" cmpd="sng">
                      <a:solidFill>
                        <a:srgbClr val="466C80"/>
                      </a:solidFill>
                      <a:prstDash val="solid"/>
                    </a:lnT>
                    <a:lnB w="7620">
                      <a:solidFill>
                        <a:srgbClr val="466C8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515"/>
                          </a:solidFill>
                          <a:latin typeface="Arial"/>
                          <a:ea typeface="Arial"/>
                          <a:cs typeface="Arial"/>
                        </a:rPr>
                        <a:t>82.2</a:t>
                      </a:r>
                    </a:p>
                  </a:txBody>
                  <a:tcPr marL="91440" marR="91440" marT="45720" marB="45720">
                    <a:lnL w="7620" cmpd="sng">
                      <a:solidFill>
                        <a:srgbClr val="466C80"/>
                      </a:solidFill>
                      <a:prstDash val="solid"/>
                    </a:lnL>
                    <a:lnR w="7620">
                      <a:solidFill>
                        <a:srgbClr val="466C80"/>
                      </a:solidFill>
                      <a:prstDash val="solid"/>
                    </a:lnR>
                    <a:lnT w="7620" cmpd="sng">
                      <a:solidFill>
                        <a:srgbClr val="466C80"/>
                      </a:solidFill>
                      <a:prstDash val="solid"/>
                    </a:lnT>
                    <a:lnB w="7620">
                      <a:solidFill>
                        <a:srgbClr val="466C80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DF2386F-53DA-19D3-C153-9411F0AE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7800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425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Figure 1: Average SIR curves across 20 runs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EEC5F91-8F66-0522-1D19-C02EBBFD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78009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51515"/>
                </a:solidFill>
                <a:latin typeface="Arial"/>
                <a:ea typeface="Arial"/>
                <a:cs typeface="Arial"/>
              </a:rPr>
              <a:t>The three plots compare the baseline, reduced movement (m=0.3), and avoidance models with p=0.3 and q=0.02. Reduced movement lowered the average peak by 47.5%, compared with 16.4% for avoidance. All 20 reduced-movement runs still had infected agents at step 300.</a:t>
            </a:r>
            <a:endParaRPr sz="1425" b="0">
              <a:solidFill>
                <a:srgbClr val="15151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243FF49-E94D-1DE3-6A27-69AEBB34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886325"/>
            <a:ext cx="33051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Peaks (agents) and peak times (steps) are calculated for each run, then averaged across 20 runs. Reduced movement delayed the mean peak from step 71.9 to 133.4. </a:t>
            </a:r>
            <a:r>
              <a:rPr sz="12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Avoidance delayed it to step 82.2.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DB8748A-2A05-E1B0-1367-A32BE39D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1133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650" b="1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1515"/>
                </a:solidFill>
                <a:latin typeface="Arial"/>
                <a:ea typeface="Arial"/>
                <a:cs typeface="Arial"/>
              </a:rPr>
              <a:t>Lesson learned from modeling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52DFA1F-7F9E-5A22-1CCA-565BFD3A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76987"/>
            <a:ext cx="11334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51515"/>
                </a:solidFill>
                <a:latin typeface="Arial"/>
                <a:ea typeface="Arial"/>
                <a:cs typeface="Arial"/>
              </a:rPr>
              <a:t>Stopping at step 300 does not mean an outbreak has ended. Some runs still had infected agents, so their final infection totals could be higher.</a:t>
            </a:r>
            <a:endParaRPr sz="1500" b="0">
              <a:solidFill>
                <a:srgbClr val="151515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9139247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2026-10-16T04:30:30.7630000Z</dcterms:created>
  <dcterms:modified xsi:type="dcterms:W3CDTF">2026-10-16T04:30:30.7630000Z</dcterms:modified>
</coreProperties>
</file>